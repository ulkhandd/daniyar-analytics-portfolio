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4" d="100"/>
          <a:sy n="84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461C9FF-CDCC-44B2-8F6A-7E7DACBC69CB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11430000" cy="7620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4050" b="1">
                <a:solidFill>
                  <a:srgbClr val="17233C"/>
                </a:solidFill>
              </a:rPr>
              <a:t>Open Banking Payment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FE8E04-E3E4-4C5B-BD14-A2A393BD38F8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1430000" cy="4572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2100" b="0">
                <a:solidFill>
                  <a:srgbClr val="5B6472"/>
                </a:solidFill>
              </a:rPr>
              <a:t>What drives conversion, value, failures, and retention?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E7DC70-8DEF-45F2-89CE-234EA85B4E09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4095750" cy="1714500"/>
          </a:xfrm>
          <a:prstGeom prst="roundRect">
            <a:avLst>
              <a:gd name="adj" fmla="val 4444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A8B77-0EB8-441B-9F1A-37433CA593E7}"/>
              </a:ext>
            </a:extLst>
          </p:cNvPr>
          <p:cNvSpPr>
            <a:spLocks noGrp="1"/>
          </p:cNvSpPr>
          <p:nvPr/>
        </p:nvSpPr>
        <p:spPr>
          <a:xfrm>
            <a:off x="1066800" y="3381375"/>
            <a:ext cx="3429000" cy="571500"/>
          </a:xfrm>
          <a:prstGeom prst="rect">
            <a:avLst/>
          </a:prstGeom>
          <a:ln w="0"/>
        </p:spPr>
        <p:txBody>
          <a:bodyPr anchor="t">
            <a:normAutofit fontScale="87500" lnSpcReduction="10000"/>
          </a:bodyPr>
          <a:lstStyle/>
          <a:p>
            <a:r>
              <a:rPr sz="3600" b="1">
                <a:solidFill>
                  <a:srgbClr val="17233C"/>
                </a:solidFill>
              </a:rPr>
              <a:t>500,000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5A646-E0A7-47D5-AE8E-2D5F9D0BC31C}"/>
              </a:ext>
            </a:extLst>
          </p:cNvPr>
          <p:cNvSpPr>
            <a:spLocks noGrp="1"/>
          </p:cNvSpPr>
          <p:nvPr/>
        </p:nvSpPr>
        <p:spPr>
          <a:xfrm>
            <a:off x="1066800" y="4048125"/>
            <a:ext cx="3238500" cy="4000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800" b="0">
                <a:solidFill>
                  <a:srgbClr val="5B6472"/>
                </a:solidFill>
              </a:rPr>
              <a:t>payment records analyzed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0F47E7-5D8A-4C17-84BA-9B69213C5C2B}"/>
              </a:ext>
            </a:extLst>
          </p:cNvPr>
          <p:cNvSpPr>
            <a:spLocks noGrp="1"/>
          </p:cNvSpPr>
          <p:nvPr/>
        </p:nvSpPr>
        <p:spPr>
          <a:xfrm>
            <a:off x="5257800" y="3143250"/>
            <a:ext cx="4095750" cy="1714500"/>
          </a:xfrm>
          <a:prstGeom prst="roundRect">
            <a:avLst>
              <a:gd name="adj" fmla="val 4444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7C2B46-43D1-436D-B43F-1E7983E80A11}"/>
              </a:ext>
            </a:extLst>
          </p:cNvPr>
          <p:cNvSpPr>
            <a:spLocks noGrp="1"/>
          </p:cNvSpPr>
          <p:nvPr/>
        </p:nvSpPr>
        <p:spPr>
          <a:xfrm>
            <a:off x="5543550" y="3381375"/>
            <a:ext cx="3429000" cy="571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7500" lnSpcReduction="10000"/>
          </a:bodyPr>
          <a:lstStyle/>
          <a:p>
            <a:r>
              <a:rPr sz="3600" b="1">
                <a:solidFill>
                  <a:srgbClr val="17233C"/>
                </a:solidFill>
              </a:rPr>
              <a:t>10.34M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347B3-6B14-46CC-AEFA-6FEEEF257FF1}"/>
              </a:ext>
            </a:extLst>
          </p:cNvPr>
          <p:cNvSpPr>
            <a:spLocks noGrp="1"/>
          </p:cNvSpPr>
          <p:nvPr/>
        </p:nvSpPr>
        <p:spPr>
          <a:xfrm>
            <a:off x="5543550" y="4048125"/>
            <a:ext cx="3048000" cy="4000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800" b="0">
                <a:solidFill>
                  <a:srgbClr val="5B6472"/>
                </a:solidFill>
              </a:rPr>
              <a:t>executed TPV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B05D28-4994-437D-A65E-3A0939A27DE1}"/>
              </a:ext>
            </a:extLst>
          </p:cNvPr>
          <p:cNvSpPr>
            <a:spLocks noGrp="1"/>
          </p:cNvSpPr>
          <p:nvPr/>
        </p:nvSpPr>
        <p:spPr>
          <a:xfrm>
            <a:off x="9734550" y="3143250"/>
            <a:ext cx="4095750" cy="1714500"/>
          </a:xfrm>
          <a:prstGeom prst="roundRect">
            <a:avLst>
              <a:gd name="adj" fmla="val 4444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A8C8DB-473D-4D2F-B1A1-CCE2898B2CA5}"/>
              </a:ext>
            </a:extLst>
          </p:cNvPr>
          <p:cNvSpPr>
            <a:spLocks noGrp="1"/>
          </p:cNvSpPr>
          <p:nvPr/>
        </p:nvSpPr>
        <p:spPr>
          <a:xfrm>
            <a:off x="10020300" y="3381375"/>
            <a:ext cx="3238500" cy="571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7500" lnSpcReduction="10000"/>
          </a:bodyPr>
          <a:lstStyle/>
          <a:p>
            <a:r>
              <a:rPr sz="3600" b="1">
                <a:solidFill>
                  <a:srgbClr val="17233C"/>
                </a:solidFill>
              </a:rPr>
              <a:t>173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39DBC-9902-4C10-8018-90D01503A441}"/>
              </a:ext>
            </a:extLst>
          </p:cNvPr>
          <p:cNvSpPr>
            <a:spLocks noGrp="1"/>
          </p:cNvSpPr>
          <p:nvPr/>
        </p:nvSpPr>
        <p:spPr>
          <a:xfrm>
            <a:off x="10020300" y="4048125"/>
            <a:ext cx="3048000" cy="4000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800" b="0">
                <a:solidFill>
                  <a:srgbClr val="5B6472"/>
                </a:solidFill>
              </a:rPr>
              <a:t>unique users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7A2930-CD64-4E33-8B6D-E9B5555C453A}"/>
              </a:ext>
            </a:extLst>
          </p:cNvPr>
          <p:cNvSpPr>
            <a:spLocks noGrp="1"/>
          </p:cNvSpPr>
          <p:nvPr/>
        </p:nvSpPr>
        <p:spPr>
          <a:xfrm>
            <a:off x="3478530" y="6638925"/>
            <a:ext cx="11430000" cy="4762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endParaRPr sz="1800" b="0" dirty="0">
              <a:solidFill>
                <a:srgbClr val="2024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038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8AF838-66CC-4075-88A7-0D045D0D2BE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477500" cy="571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3150" b="1" dirty="0">
                <a:solidFill>
                  <a:srgbClr val="17233C"/>
                </a:solidFill>
              </a:rPr>
              <a:t>Main finding: </a:t>
            </a:r>
            <a:r>
              <a:rPr lang="en-US" sz="3150" b="1" dirty="0">
                <a:solidFill>
                  <a:srgbClr val="17233C"/>
                </a:solidFill>
              </a:rPr>
              <a:t>value</a:t>
            </a:r>
            <a:r>
              <a:rPr lang="ru-KZ" sz="3150" b="1" dirty="0">
                <a:solidFill>
                  <a:srgbClr val="17233C"/>
                </a:solidFill>
              </a:rPr>
              <a:t> </a:t>
            </a:r>
            <a:r>
              <a:rPr lang="en-US" sz="3150" b="1" dirty="0">
                <a:solidFill>
                  <a:srgbClr val="17233C"/>
                </a:solidFill>
              </a:rPr>
              <a:t>is</a:t>
            </a:r>
            <a:r>
              <a:rPr lang="ru-KZ" sz="3150" b="1" dirty="0">
                <a:solidFill>
                  <a:srgbClr val="17233C"/>
                </a:solidFill>
              </a:rPr>
              <a:t> </a:t>
            </a:r>
            <a:r>
              <a:rPr lang="en-US" sz="3150" b="1" dirty="0">
                <a:solidFill>
                  <a:srgbClr val="17233C"/>
                </a:solidFill>
              </a:rPr>
              <a:t>extremely</a:t>
            </a:r>
            <a:r>
              <a:rPr lang="ru-KZ" sz="3150" b="1" dirty="0">
                <a:solidFill>
                  <a:srgbClr val="17233C"/>
                </a:solidFill>
              </a:rPr>
              <a:t> </a:t>
            </a:r>
            <a:r>
              <a:rPr lang="en-US" sz="3150" b="1" dirty="0">
                <a:solidFill>
                  <a:srgbClr val="17233C"/>
                </a:solidFill>
              </a:rPr>
              <a:t>concentrated</a:t>
            </a:r>
            <a:endParaRPr sz="3150" b="1" dirty="0">
              <a:solidFill>
                <a:srgbClr val="17233C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B26F9-F04F-4E98-B9C3-4933A6A5A90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477500" cy="3048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3333"/>
          </a:bodyPr>
          <a:lstStyle/>
          <a:p>
            <a:r>
              <a:rPr sz="1500" b="0">
                <a:solidFill>
                  <a:srgbClr val="5B6472"/>
                </a:solidFill>
              </a:rPr>
              <a:t>The averages hide where the business actually sits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8E4FEA-DFD8-448C-88A4-F9F6253E7C85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13811250" cy="38100"/>
          </a:xfrm>
          <a:prstGeom prst="rect">
            <a:avLst/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" y="2625735"/>
            <a:ext cx="7334250" cy="360678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73C55A-4A05-446C-A8E1-ECB80FA0F455}"/>
              </a:ext>
            </a:extLst>
          </p:cNvPr>
          <p:cNvSpPr>
            <a:spLocks noGrp="1"/>
          </p:cNvSpPr>
          <p:nvPr/>
        </p:nvSpPr>
        <p:spPr>
          <a:xfrm>
            <a:off x="8763000" y="2286000"/>
            <a:ext cx="5429250" cy="1095375"/>
          </a:xfrm>
          <a:prstGeom prst="roundRect">
            <a:avLst>
              <a:gd name="adj" fmla="val 6957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756AEF-6C67-4916-9E43-9E561EC22DAF}"/>
              </a:ext>
            </a:extLst>
          </p:cNvPr>
          <p:cNvSpPr>
            <a:spLocks noGrp="1"/>
          </p:cNvSpPr>
          <p:nvPr/>
        </p:nvSpPr>
        <p:spPr>
          <a:xfrm>
            <a:off x="9096375" y="2571750"/>
            <a:ext cx="4857750" cy="4762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2100" b="1">
                <a:solidFill>
                  <a:srgbClr val="17233C"/>
                </a:solidFill>
              </a:rPr>
              <a:t>Top 20% of users drive 97.51% of TPV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A57C9C-54E5-4422-9554-E0A3BC7E0ED1}"/>
              </a:ext>
            </a:extLst>
          </p:cNvPr>
          <p:cNvSpPr>
            <a:spLocks noGrp="1"/>
          </p:cNvSpPr>
          <p:nvPr/>
        </p:nvSpPr>
        <p:spPr>
          <a:xfrm>
            <a:off x="8763000" y="3714750"/>
            <a:ext cx="5429250" cy="1095375"/>
          </a:xfrm>
          <a:prstGeom prst="roundRect">
            <a:avLst>
              <a:gd name="adj" fmla="val 6957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64643-2933-477B-BC62-4F10DFAD0A90}"/>
              </a:ext>
            </a:extLst>
          </p:cNvPr>
          <p:cNvSpPr>
            <a:spLocks noGrp="1"/>
          </p:cNvSpPr>
          <p:nvPr/>
        </p:nvSpPr>
        <p:spPr>
          <a:xfrm>
            <a:off x="9096375" y="4000500"/>
            <a:ext cx="4857750" cy="4762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2100" b="1">
                <a:solidFill>
                  <a:srgbClr val="17233C"/>
                </a:solidFill>
              </a:rPr>
              <a:t>Vertical 2 + Type 8 drives 84.09% of TPV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4D23F6-FD6E-457D-97CD-025AF89B9E7E}"/>
              </a:ext>
            </a:extLst>
          </p:cNvPr>
          <p:cNvSpPr>
            <a:spLocks noGrp="1"/>
          </p:cNvSpPr>
          <p:nvPr/>
        </p:nvSpPr>
        <p:spPr>
          <a:xfrm>
            <a:off x="8810625" y="5381625"/>
            <a:ext cx="5238750" cy="952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800" b="0">
                <a:solidFill>
                  <a:srgbClr val="20242C"/>
                </a:solidFill>
              </a:rPr>
              <a:t>So the most important risk and opportunity are concentrated in a small group of users and one major segment.</a:t>
            </a:r>
          </a:p>
        </p:txBody>
      </p:sp>
    </p:spTree>
    <p:extLst>
      <p:ext uri="{BB962C8B-B14F-4D97-AF65-F5344CB8AC3E}">
        <p14:creationId xmlns:p14="http://schemas.microsoft.com/office/powerpoint/2010/main" val="12223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EFDFD64-8D3C-4E73-9431-21CD66F7FA6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477500" cy="571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3150" b="1">
                <a:solidFill>
                  <a:srgbClr val="17233C"/>
                </a:solidFill>
              </a:rPr>
              <a:t>Payment performance is strong, but not uniform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EE76E7-35C8-49FD-ABAF-E73E9EC951A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477500" cy="3048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3333"/>
          </a:bodyPr>
          <a:lstStyle/>
          <a:p>
            <a:r>
              <a:rPr sz="1500" b="0">
                <a:solidFill>
                  <a:srgbClr val="5B6472"/>
                </a:solidFill>
              </a:rPr>
              <a:t>Execution improves, and API v3 performs best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564647-8B78-4A68-A900-1CF646E5A0A0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13811250" cy="38100"/>
          </a:xfrm>
          <a:prstGeom prst="rect">
            <a:avLst/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" y="2550771"/>
            <a:ext cx="6477000" cy="31852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0" y="2445232"/>
            <a:ext cx="6572250" cy="33962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F68E88-E264-4A61-B326-9696CC27078A}"/>
              </a:ext>
            </a:extLst>
          </p:cNvPr>
          <p:cNvSpPr>
            <a:spLocks noGrp="1"/>
          </p:cNvSpPr>
          <p:nvPr/>
        </p:nvSpPr>
        <p:spPr>
          <a:xfrm>
            <a:off x="857250" y="6572250"/>
            <a:ext cx="6096000" cy="4381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875" b="1">
                <a:solidFill>
                  <a:srgbClr val="17233C"/>
                </a:solidFill>
              </a:rPr>
              <a:t>Executed payments: 377,616 / 500,000 ≈ 75.5%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F48DBF-D12F-4136-9B0A-320FC1B1928C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6286500" cy="4381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875" b="1">
                <a:solidFill>
                  <a:srgbClr val="17233C"/>
                </a:solidFill>
              </a:rPr>
              <a:t>v3 execution rate: 79.44%, higher than v1 and v2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4B8655-BAEF-476A-A5E4-0229D91A6564}"/>
              </a:ext>
            </a:extLst>
          </p:cNvPr>
          <p:cNvSpPr>
            <a:spLocks noGrp="1"/>
          </p:cNvSpPr>
          <p:nvPr/>
        </p:nvSpPr>
        <p:spPr>
          <a:xfrm>
            <a:off x="857250" y="7143750"/>
            <a:ext cx="12382500" cy="5334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650" b="0">
                <a:solidFill>
                  <a:srgbClr val="5B6472"/>
                </a:solidFill>
              </a:rPr>
              <a:t>The settlement gap should be checked separately, because settlement may be tracked differently from execution.</a:t>
            </a:r>
          </a:p>
        </p:txBody>
      </p:sp>
    </p:spTree>
    <p:extLst>
      <p:ext uri="{BB962C8B-B14F-4D97-AF65-F5344CB8AC3E}">
        <p14:creationId xmlns:p14="http://schemas.microsoft.com/office/powerpoint/2010/main" val="77599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015689-A4C7-433C-9538-2C638602661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477500" cy="571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3150" b="1">
                <a:solidFill>
                  <a:srgbClr val="17233C"/>
                </a:solidFill>
              </a:rPr>
              <a:t>The clearest operational issue is expired payments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A33D3A-F2E1-4D39-9213-A52F21D6787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477500" cy="3048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3333"/>
          </a:bodyPr>
          <a:lstStyle/>
          <a:p>
            <a:r>
              <a:rPr sz="1500" b="0">
                <a:solidFill>
                  <a:srgbClr val="5B6472"/>
                </a:solidFill>
              </a:rPr>
              <a:t>Failures are not random; one reason dominates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1C9856-B5A2-48BD-84E9-0F72DFB0D95B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13811250" cy="38100"/>
          </a:xfrm>
          <a:prstGeom prst="rect">
            <a:avLst/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357392"/>
            <a:ext cx="7810500" cy="423871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4B5C54-6C00-47EF-A8C7-7228F58422EE}"/>
              </a:ext>
            </a:extLst>
          </p:cNvPr>
          <p:cNvSpPr>
            <a:spLocks noGrp="1"/>
          </p:cNvSpPr>
          <p:nvPr/>
        </p:nvSpPr>
        <p:spPr>
          <a:xfrm>
            <a:off x="9239250" y="2333625"/>
            <a:ext cx="4286250" cy="1238250"/>
          </a:xfrm>
          <a:prstGeom prst="roundRect">
            <a:avLst>
              <a:gd name="adj" fmla="val 6154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FA0549-1871-42AF-B4B3-566AF971BADD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2476500" cy="4762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4015" lnSpcReduction="10000"/>
          </a:bodyPr>
          <a:lstStyle/>
          <a:p>
            <a:r>
              <a:rPr sz="3300" b="1">
                <a:solidFill>
                  <a:srgbClr val="17233C"/>
                </a:solidFill>
              </a:rPr>
              <a:t>45,305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31901-CC2D-4F36-AE60-0ED735B49BBC}"/>
              </a:ext>
            </a:extLst>
          </p:cNvPr>
          <p:cNvSpPr>
            <a:spLocks noGrp="1"/>
          </p:cNvSpPr>
          <p:nvPr/>
        </p:nvSpPr>
        <p:spPr>
          <a:xfrm>
            <a:off x="9544050" y="3095625"/>
            <a:ext cx="238125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9924" lnSpcReduction="10000"/>
          </a:bodyPr>
          <a:lstStyle/>
          <a:p>
            <a:r>
              <a:rPr sz="1650" b="0">
                <a:solidFill>
                  <a:srgbClr val="5B6472"/>
                </a:solidFill>
              </a:rPr>
              <a:t>failed payments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E90744-0780-421E-A015-7CF42481A0A5}"/>
              </a:ext>
            </a:extLst>
          </p:cNvPr>
          <p:cNvSpPr>
            <a:spLocks noGrp="1"/>
          </p:cNvSpPr>
          <p:nvPr/>
        </p:nvSpPr>
        <p:spPr>
          <a:xfrm>
            <a:off x="9239250" y="3857625"/>
            <a:ext cx="4286250" cy="1238250"/>
          </a:xfrm>
          <a:prstGeom prst="roundRect">
            <a:avLst>
              <a:gd name="adj" fmla="val 6154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84176A-5D34-4C02-A270-B38C539C2B60}"/>
              </a:ext>
            </a:extLst>
          </p:cNvPr>
          <p:cNvSpPr>
            <a:spLocks noGrp="1"/>
          </p:cNvSpPr>
          <p:nvPr/>
        </p:nvSpPr>
        <p:spPr>
          <a:xfrm>
            <a:off x="9525000" y="4095750"/>
            <a:ext cx="2476500" cy="4762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4015" lnSpcReduction="10000"/>
          </a:bodyPr>
          <a:lstStyle/>
          <a:p>
            <a:r>
              <a:rPr sz="3300" b="1">
                <a:solidFill>
                  <a:srgbClr val="17233C"/>
                </a:solidFill>
              </a:rPr>
              <a:t>9.06%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7E8844-B62F-43D9-822E-70553D5C8D60}"/>
              </a:ext>
            </a:extLst>
          </p:cNvPr>
          <p:cNvSpPr>
            <a:spLocks noGrp="1"/>
          </p:cNvSpPr>
          <p:nvPr/>
        </p:nvSpPr>
        <p:spPr>
          <a:xfrm>
            <a:off x="9544050" y="4619625"/>
            <a:ext cx="24765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9924" lnSpcReduction="10000"/>
          </a:bodyPr>
          <a:lstStyle/>
          <a:p>
            <a:r>
              <a:rPr sz="1650" b="0">
                <a:solidFill>
                  <a:srgbClr val="5B6472"/>
                </a:solidFill>
              </a:rPr>
              <a:t>overall failure rate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2D7D91-9C43-4FEB-BF70-FC53F04CBA0F}"/>
              </a:ext>
            </a:extLst>
          </p:cNvPr>
          <p:cNvSpPr>
            <a:spLocks noGrp="1"/>
          </p:cNvSpPr>
          <p:nvPr/>
        </p:nvSpPr>
        <p:spPr>
          <a:xfrm>
            <a:off x="9239250" y="5381625"/>
            <a:ext cx="4286250" cy="1238250"/>
          </a:xfrm>
          <a:prstGeom prst="roundRect">
            <a:avLst>
              <a:gd name="adj" fmla="val 6154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A9B86-3A2B-464A-B955-86A589F5D721}"/>
              </a:ext>
            </a:extLst>
          </p:cNvPr>
          <p:cNvSpPr>
            <a:spLocks noGrp="1"/>
          </p:cNvSpPr>
          <p:nvPr/>
        </p:nvSpPr>
        <p:spPr>
          <a:xfrm>
            <a:off x="9525000" y="5619750"/>
            <a:ext cx="2476500" cy="4762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4015" lnSpcReduction="10000"/>
          </a:bodyPr>
          <a:lstStyle/>
          <a:p>
            <a:r>
              <a:rPr sz="3300" b="1">
                <a:solidFill>
                  <a:srgbClr val="C65D45"/>
                </a:solidFill>
              </a:rPr>
              <a:t>51.15%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374BC-49A3-4E04-812A-72F6B65174CA}"/>
              </a:ext>
            </a:extLst>
          </p:cNvPr>
          <p:cNvSpPr>
            <a:spLocks noGrp="1"/>
          </p:cNvSpPr>
          <p:nvPr/>
        </p:nvSpPr>
        <p:spPr>
          <a:xfrm>
            <a:off x="9544050" y="6143625"/>
            <a:ext cx="266700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9924" lnSpcReduction="10000"/>
          </a:bodyPr>
          <a:lstStyle/>
          <a:p>
            <a:r>
              <a:rPr sz="1650" b="0">
                <a:solidFill>
                  <a:srgbClr val="5B6472"/>
                </a:solidFill>
              </a:rPr>
              <a:t>of failures are expired</a:t>
            </a:r>
          </a:p>
        </p:txBody>
      </p:sp>
    </p:spTree>
    <p:extLst>
      <p:ext uri="{BB962C8B-B14F-4D97-AF65-F5344CB8AC3E}">
        <p14:creationId xmlns:p14="http://schemas.microsoft.com/office/powerpoint/2010/main" val="50943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A2370-6650-40D4-A8AA-2B0837D845D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477500" cy="571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lang="en-US" sz="3150" b="1" dirty="0">
                <a:solidFill>
                  <a:srgbClr val="17233C"/>
                </a:solidFill>
              </a:rPr>
              <a:t>Loyal user base</a:t>
            </a:r>
            <a:r>
              <a:rPr sz="3150" b="1" dirty="0">
                <a:solidFill>
                  <a:srgbClr val="17233C"/>
                </a:solidFill>
              </a:rPr>
              <a:t>, but growth depends on retained users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7D18BC-AD60-4006-99E7-746B0B11372C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477500" cy="3048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3333"/>
          </a:bodyPr>
          <a:lstStyle/>
          <a:p>
            <a:r>
              <a:rPr sz="1500" b="0">
                <a:solidFill>
                  <a:srgbClr val="5B6472"/>
                </a:solidFill>
              </a:rPr>
              <a:t>Returning users and Champions carry most of the activity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6A6CB-5D7D-44A6-AE20-958CB22073D7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13811250" cy="38100"/>
          </a:xfrm>
          <a:prstGeom prst="rect">
            <a:avLst/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" y="2646865"/>
            <a:ext cx="7239000" cy="356452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C9BEA8-8289-4A3E-8E48-D494BADBE37A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354DB-C1C1-4A64-B1D6-4C2C1D8D464A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4762500" cy="3619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6389" lnSpcReduction="10000"/>
          </a:bodyPr>
          <a:lstStyle/>
          <a:p>
            <a:r>
              <a:rPr sz="2250" b="1">
                <a:solidFill>
                  <a:srgbClr val="17233C"/>
                </a:solidFill>
              </a:rPr>
              <a:t>90-day retention: 99.96%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5BFF94-C4CD-44FE-A7EB-AB24F1B448D2}"/>
              </a:ext>
            </a:extLst>
          </p:cNvPr>
          <p:cNvSpPr>
            <a:spLocks noGrp="1"/>
          </p:cNvSpPr>
          <p:nvPr/>
        </p:nvSpPr>
        <p:spPr>
          <a:xfrm>
            <a:off x="8572500" y="33337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71D3B-3192-411F-9D52-08DB9F24FD02}"/>
              </a:ext>
            </a:extLst>
          </p:cNvPr>
          <p:cNvSpPr>
            <a:spLocks noGrp="1"/>
          </p:cNvSpPr>
          <p:nvPr/>
        </p:nvSpPr>
        <p:spPr>
          <a:xfrm>
            <a:off x="8858250" y="3571875"/>
            <a:ext cx="4762500" cy="3619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6389" lnSpcReduction="10000"/>
          </a:bodyPr>
          <a:lstStyle/>
          <a:p>
            <a:r>
              <a:rPr sz="2250" b="1">
                <a:solidFill>
                  <a:srgbClr val="17233C"/>
                </a:solidFill>
              </a:rPr>
              <a:t>Returning users: 75.57% conversion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1FC770-0A36-48A5-AB07-B654E3EF32C6}"/>
              </a:ext>
            </a:extLst>
          </p:cNvPr>
          <p:cNvSpPr>
            <a:spLocks noGrp="1"/>
          </p:cNvSpPr>
          <p:nvPr/>
        </p:nvSpPr>
        <p:spPr>
          <a:xfrm>
            <a:off x="8591550" y="4333876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9C269B-F4EF-4732-AA2E-5EA5630007F7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4762500" cy="3619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6389" lnSpcReduction="10000"/>
          </a:bodyPr>
          <a:lstStyle/>
          <a:p>
            <a:r>
              <a:rPr sz="2250" b="1">
                <a:solidFill>
                  <a:srgbClr val="17233C"/>
                </a:solidFill>
              </a:rPr>
              <a:t>Champions: 40 users, 9.68M TPV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DD9B13-F439-468D-ADD7-A43DECE636E1}"/>
              </a:ext>
            </a:extLst>
          </p:cNvPr>
          <p:cNvSpPr>
            <a:spLocks noGrp="1"/>
          </p:cNvSpPr>
          <p:nvPr/>
        </p:nvSpPr>
        <p:spPr>
          <a:xfrm>
            <a:off x="8591550" y="6696075"/>
            <a:ext cx="4953000" cy="666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1725" b="0" dirty="0">
                <a:solidFill>
                  <a:srgbClr val="5B6472"/>
                </a:solidFill>
              </a:rPr>
              <a:t>The last 6 months show net change of -7 users, but the final month may be partial.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172582-912E-689C-6C36-D9E2961B6647}"/>
              </a:ext>
            </a:extLst>
          </p:cNvPr>
          <p:cNvSpPr>
            <a:spLocks noGrp="1"/>
          </p:cNvSpPr>
          <p:nvPr/>
        </p:nvSpPr>
        <p:spPr>
          <a:xfrm>
            <a:off x="8591550" y="53911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  <p:txBody>
          <a:bodyPr/>
          <a:lstStyle/>
          <a:p>
            <a:r>
              <a:rPr lang="en-US" b="1" dirty="0"/>
              <a:t>The `At Risk` segment has 21 users and 437.6k TPV,</a:t>
            </a:r>
          </a:p>
          <a:p>
            <a:r>
              <a:rPr lang="en-US" b="1" dirty="0"/>
              <a:t>(</a:t>
            </a:r>
            <a:r>
              <a:rPr lang="en-US" dirty="0"/>
              <a:t>meaning these users used to be valuable but </a:t>
            </a:r>
            <a:r>
              <a:rPr lang="en-US" dirty="0" err="1"/>
              <a:t>havent</a:t>
            </a:r>
            <a:r>
              <a:rPr lang="en-US" dirty="0"/>
              <a:t> paid recently)</a:t>
            </a:r>
          </a:p>
          <a:p>
            <a:endParaRPr lang="en-US" b="1" dirty="0"/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19739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3B56EDA-3019-4C35-9712-387CC371BB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477500" cy="5715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/>
          </a:bodyPr>
          <a:lstStyle/>
          <a:p>
            <a:r>
              <a:rPr sz="3150" b="1">
                <a:solidFill>
                  <a:srgbClr val="17233C"/>
                </a:solidFill>
              </a:rPr>
              <a:t>Recommended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52181-7906-42D7-A754-B87168E1EE26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477500" cy="3048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93333"/>
          </a:bodyPr>
          <a:lstStyle/>
          <a:p>
            <a:r>
              <a:rPr sz="1500" b="0">
                <a:solidFill>
                  <a:srgbClr val="5B6472"/>
                </a:solidFill>
              </a:rPr>
              <a:t>Focus on the areas where the data shows the biggest leverage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0286B4-7D3B-4567-B563-AC61134E6DD1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13811250" cy="38100"/>
          </a:xfrm>
          <a:prstGeom prst="rect">
            <a:avLst/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295E3C-C9ED-4839-B5BF-B062D182DFE7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25730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BE1F01-1A9B-48B7-BD08-F79DD627754B}"/>
              </a:ext>
            </a:extLst>
          </p:cNvPr>
          <p:cNvSpPr>
            <a:spLocks noGrp="1"/>
          </p:cNvSpPr>
          <p:nvPr/>
        </p:nvSpPr>
        <p:spPr>
          <a:xfrm>
            <a:off x="1190625" y="238696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F6DAA"/>
          </a:solidFill>
          <a:ln w="0">
            <a:solidFill>
              <a:srgbClr val="2F6DAA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5050AF-E139-4EB3-84E1-EB0CF964E053}"/>
              </a:ext>
            </a:extLst>
          </p:cNvPr>
          <p:cNvSpPr>
            <a:spLocks noGrp="1"/>
          </p:cNvSpPr>
          <p:nvPr/>
        </p:nvSpPr>
        <p:spPr>
          <a:xfrm>
            <a:off x="1323975" y="2476500"/>
            <a:ext cx="228600" cy="304800"/>
          </a:xfrm>
          <a:prstGeom prst="rect">
            <a:avLst/>
          </a:prstGeom>
          <a:solidFill>
            <a:srgbClr val="2F6DAA"/>
          </a:solidFill>
          <a:ln w="0">
            <a:solidFill>
              <a:srgbClr val="2F6DAA"/>
            </a:solidFill>
          </a:ln>
        </p:spPr>
        <p:txBody>
          <a:bodyPr anchor="t">
            <a:noAutofit/>
          </a:bodyPr>
          <a:lstStyle/>
          <a:p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5B7AEA-5912-40FD-950B-8AFE851B0CD9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428625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0119" lnSpcReduction="10000"/>
          </a:bodyPr>
          <a:lstStyle/>
          <a:p>
            <a:r>
              <a:rPr sz="2100" b="1">
                <a:solidFill>
                  <a:srgbClr val="17233C"/>
                </a:solidFill>
              </a:rPr>
              <a:t>Protect high-value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394083-CC1C-4B5A-9BC5-E712CA0250DD}"/>
              </a:ext>
            </a:extLst>
          </p:cNvPr>
          <p:cNvSpPr>
            <a:spLocks noGrp="1"/>
          </p:cNvSpPr>
          <p:nvPr/>
        </p:nvSpPr>
        <p:spPr>
          <a:xfrm>
            <a:off x="1952625" y="2714625"/>
            <a:ext cx="9334500" cy="285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5000" lnSpcReduction="10000"/>
          </a:bodyPr>
          <a:lstStyle/>
          <a:p>
            <a:r>
              <a:rPr sz="1500" b="0">
                <a:solidFill>
                  <a:srgbClr val="20242C"/>
                </a:solidFill>
              </a:rPr>
              <a:t>Top users and Champions drive almost all TPV, so retention of this group matters most.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D7374C-A185-4EDF-B0DE-BF0EEC353C39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125730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DEDCA4-5735-4035-8D06-270654DBFCED}"/>
              </a:ext>
            </a:extLst>
          </p:cNvPr>
          <p:cNvSpPr>
            <a:spLocks noGrp="1"/>
          </p:cNvSpPr>
          <p:nvPr/>
        </p:nvSpPr>
        <p:spPr>
          <a:xfrm>
            <a:off x="1190625" y="36861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F6DAA"/>
          </a:solidFill>
          <a:ln w="0">
            <a:solidFill>
              <a:srgbClr val="2F6DAA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40F222-8D7C-4D2C-93EF-05DA6CE9D369}"/>
              </a:ext>
            </a:extLst>
          </p:cNvPr>
          <p:cNvSpPr>
            <a:spLocks noGrp="1"/>
          </p:cNvSpPr>
          <p:nvPr/>
        </p:nvSpPr>
        <p:spPr>
          <a:xfrm>
            <a:off x="1323975" y="3762375"/>
            <a:ext cx="228600" cy="304800"/>
          </a:xfrm>
          <a:prstGeom prst="rect">
            <a:avLst/>
          </a:prstGeom>
          <a:solidFill>
            <a:srgbClr val="2F6DAA"/>
          </a:solidFill>
          <a:ln w="0">
            <a:solidFill>
              <a:srgbClr val="2F6DAA"/>
            </a:solidFill>
          </a:ln>
        </p:spPr>
        <p:txBody>
          <a:bodyPr anchor="t">
            <a:noAutofit/>
          </a:bodyPr>
          <a:lstStyle/>
          <a:p>
            <a:r>
              <a:rPr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E802A1-2204-4DAE-9555-8E6F13683EE8}"/>
              </a:ext>
            </a:extLst>
          </p:cNvPr>
          <p:cNvSpPr>
            <a:spLocks noGrp="1"/>
          </p:cNvSpPr>
          <p:nvPr/>
        </p:nvSpPr>
        <p:spPr>
          <a:xfrm>
            <a:off x="1952625" y="3648075"/>
            <a:ext cx="428625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0119" lnSpcReduction="10000"/>
          </a:bodyPr>
          <a:lstStyle/>
          <a:p>
            <a:r>
              <a:rPr sz="2100" b="1">
                <a:solidFill>
                  <a:srgbClr val="17233C"/>
                </a:solidFill>
              </a:rPr>
              <a:t>Investigate expired failures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FB516D-2796-4CAC-8C14-AB2BD008EA9D}"/>
              </a:ext>
            </a:extLst>
          </p:cNvPr>
          <p:cNvSpPr>
            <a:spLocks noGrp="1"/>
          </p:cNvSpPr>
          <p:nvPr/>
        </p:nvSpPr>
        <p:spPr>
          <a:xfrm>
            <a:off x="1952625" y="4000500"/>
            <a:ext cx="9334500" cy="285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5000" lnSpcReduction="10000"/>
          </a:bodyPr>
          <a:lstStyle/>
          <a:p>
            <a:r>
              <a:rPr sz="1500" b="0">
                <a:solidFill>
                  <a:srgbClr val="20242C"/>
                </a:solidFill>
              </a:rPr>
              <a:t>Expired payments are the largest failure category and the clearest operational issue.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C70065-A0F9-436C-94B3-9A7F16EB30C2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125730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56F7B1-CAC8-4F7D-AC65-68CFC5CB8CBF}"/>
              </a:ext>
            </a:extLst>
          </p:cNvPr>
          <p:cNvSpPr>
            <a:spLocks noGrp="1"/>
          </p:cNvSpPr>
          <p:nvPr/>
        </p:nvSpPr>
        <p:spPr>
          <a:xfrm>
            <a:off x="1190625" y="49720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F6DAA"/>
          </a:solidFill>
          <a:ln w="0">
            <a:solidFill>
              <a:srgbClr val="2F6DAA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A156AD-CEAA-449F-B2BC-50B74A48DFD6}"/>
              </a:ext>
            </a:extLst>
          </p:cNvPr>
          <p:cNvSpPr>
            <a:spLocks noGrp="1"/>
          </p:cNvSpPr>
          <p:nvPr/>
        </p:nvSpPr>
        <p:spPr>
          <a:xfrm>
            <a:off x="1323975" y="5062537"/>
            <a:ext cx="228600" cy="304800"/>
          </a:xfrm>
          <a:prstGeom prst="rect">
            <a:avLst/>
          </a:prstGeom>
          <a:solidFill>
            <a:srgbClr val="2F6DAA"/>
          </a:solidFill>
          <a:ln w="0">
            <a:solidFill>
              <a:srgbClr val="2F6DAA"/>
            </a:solidFill>
          </a:ln>
        </p:spPr>
        <p:txBody>
          <a:bodyPr anchor="t">
            <a:noAutofit/>
          </a:bodyPr>
          <a:lstStyle/>
          <a:p>
            <a:r>
              <a:rPr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5C0630-9FAB-4654-A6B2-B1C9BE05BD07}"/>
              </a:ext>
            </a:extLst>
          </p:cNvPr>
          <p:cNvSpPr>
            <a:spLocks noGrp="1"/>
          </p:cNvSpPr>
          <p:nvPr/>
        </p:nvSpPr>
        <p:spPr>
          <a:xfrm>
            <a:off x="1952625" y="4933950"/>
            <a:ext cx="428625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0119" lnSpcReduction="10000"/>
          </a:bodyPr>
          <a:lstStyle/>
          <a:p>
            <a:r>
              <a:rPr sz="2100" b="1">
                <a:solidFill>
                  <a:srgbClr val="17233C"/>
                </a:solidFill>
              </a:rPr>
              <a:t>Clarify the settlement gap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E68F3C-56E2-41FA-A77A-BD4AE89437E0}"/>
              </a:ext>
            </a:extLst>
          </p:cNvPr>
          <p:cNvSpPr>
            <a:spLocks noGrp="1"/>
          </p:cNvSpPr>
          <p:nvPr/>
        </p:nvSpPr>
        <p:spPr>
          <a:xfrm>
            <a:off x="1952625" y="5286375"/>
            <a:ext cx="9334500" cy="285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5000" lnSpcReduction="10000"/>
          </a:bodyPr>
          <a:lstStyle/>
          <a:p>
            <a:r>
              <a:rPr sz="1500" b="0">
                <a:solidFill>
                  <a:srgbClr val="20242C"/>
                </a:solidFill>
              </a:rPr>
              <a:t>Executed volume is strong, but settled payments are much lower and need business-rule validation.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81FE3BB-5C54-494D-B041-ABC5CCC39577}"/>
              </a:ext>
            </a:extLst>
          </p:cNvPr>
          <p:cNvSpPr>
            <a:spLocks noGrp="1"/>
          </p:cNvSpPr>
          <p:nvPr/>
        </p:nvSpPr>
        <p:spPr>
          <a:xfrm>
            <a:off x="952500" y="6048375"/>
            <a:ext cx="12573000" cy="904875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0">
            <a:solidFill>
              <a:srgbClr val="EEF4FA"/>
            </a:solidFill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D2CC48F-B324-435E-9248-61B20F9A55D0}"/>
              </a:ext>
            </a:extLst>
          </p:cNvPr>
          <p:cNvSpPr>
            <a:spLocks noGrp="1"/>
          </p:cNvSpPr>
          <p:nvPr/>
        </p:nvSpPr>
        <p:spPr>
          <a:xfrm>
            <a:off x="1190625" y="625792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F6DAA"/>
          </a:solidFill>
          <a:ln w="0">
            <a:solidFill>
              <a:srgbClr val="2F6DAA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6CABEA-D8FC-4EEF-9659-764BDD91E9DA}"/>
              </a:ext>
            </a:extLst>
          </p:cNvPr>
          <p:cNvSpPr>
            <a:spLocks noGrp="1"/>
          </p:cNvSpPr>
          <p:nvPr/>
        </p:nvSpPr>
        <p:spPr>
          <a:xfrm>
            <a:off x="1323975" y="6334125"/>
            <a:ext cx="228600" cy="304800"/>
          </a:xfrm>
          <a:prstGeom prst="rect">
            <a:avLst/>
          </a:prstGeom>
          <a:solidFill>
            <a:srgbClr val="2F6DAA"/>
          </a:solidFill>
          <a:ln w="0">
            <a:solidFill>
              <a:srgbClr val="2F6DAA"/>
            </a:solidFill>
          </a:ln>
        </p:spPr>
        <p:txBody>
          <a:bodyPr anchor="t">
            <a:noAutofit/>
          </a:bodyPr>
          <a:lstStyle/>
          <a:p>
            <a:r>
              <a:rPr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2AC02D-74F4-4813-B7D4-FF48C4FD301A}"/>
              </a:ext>
            </a:extLst>
          </p:cNvPr>
          <p:cNvSpPr>
            <a:spLocks noGrp="1"/>
          </p:cNvSpPr>
          <p:nvPr/>
        </p:nvSpPr>
        <p:spPr>
          <a:xfrm>
            <a:off x="1952625" y="6219825"/>
            <a:ext cx="4286250" cy="3238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0119" lnSpcReduction="10000"/>
          </a:bodyPr>
          <a:lstStyle/>
          <a:p>
            <a:r>
              <a:rPr sz="2100" b="1">
                <a:solidFill>
                  <a:srgbClr val="17233C"/>
                </a:solidFill>
              </a:rPr>
              <a:t>Track growth quality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7E842E-C683-4621-8DCB-37C98FF27B46}"/>
              </a:ext>
            </a:extLst>
          </p:cNvPr>
          <p:cNvSpPr>
            <a:spLocks noGrp="1"/>
          </p:cNvSpPr>
          <p:nvPr/>
        </p:nvSpPr>
        <p:spPr>
          <a:xfrm>
            <a:off x="1952625" y="6572250"/>
            <a:ext cx="9334500" cy="2857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anchor="t">
            <a:normAutofit fontScale="85000" lnSpcReduction="10000"/>
          </a:bodyPr>
          <a:lstStyle/>
          <a:p>
            <a:r>
              <a:rPr sz="1500" b="0">
                <a:solidFill>
                  <a:srgbClr val="20242C"/>
                </a:solidFill>
              </a:rPr>
              <a:t>Retention is strong, but new-user growth is small and the latest months show possible flattening.</a:t>
            </a:r>
          </a:p>
        </p:txBody>
      </p:sp>
    </p:spTree>
    <p:extLst>
      <p:ext uri="{BB962C8B-B14F-4D97-AF65-F5344CB8AC3E}">
        <p14:creationId xmlns:p14="http://schemas.microsoft.com/office/powerpoint/2010/main" val="7925684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339</Words>
  <Application>Microsoft Office PowerPoint</Application>
  <DocSecurity>0</DocSecurity>
  <PresentationFormat>Custom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 ul</cp:lastModifiedBy>
  <cp:revision>3</cp:revision>
  <dcterms:created xsi:type="dcterms:W3CDTF">2026-05-25T13:23:54Z</dcterms:created>
  <dcterms:modified xsi:type="dcterms:W3CDTF">2026-05-26T00:03:55Z</dcterms:modified>
</cp:coreProperties>
</file>