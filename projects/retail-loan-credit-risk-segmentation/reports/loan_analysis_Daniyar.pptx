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2C4A"/>
                </a:solidFill>
              </a:defRPr>
            </a:pPr>
            <a:r>
              <a:t>Retail Loan Portfolio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</a:defRPr>
            </a:pPr>
            <a:r>
              <a:t>Borrower segmentation and credit-risk prediction</a:t>
            </a:r>
            <a:br/>
            <a:r>
              <a:t>Loan Data 2007–2014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194560" cy="1234440"/>
          </a:xfrm>
          <a:prstGeom prst="roundRect">
            <a:avLst/>
          </a:prstGeom>
          <a:solidFill>
            <a:srgbClr val="ECF2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73152" cy="123444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3273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888B"/>
                </a:solidFill>
              </a:defRPr>
            </a:pPr>
            <a:r>
              <a:t>464,776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</a:defRPr>
            </a:pPr>
            <a:r>
              <a:t>Loans in unsupervised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017520"/>
            <a:ext cx="2194560" cy="1234440"/>
          </a:xfrm>
          <a:prstGeom prst="roundRect">
            <a:avLst/>
          </a:prstGeom>
          <a:solidFill>
            <a:srgbClr val="ECF2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3017520"/>
            <a:ext cx="73152" cy="123444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3273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F34"/>
                </a:solidFill>
              </a:defRPr>
            </a:pPr>
            <a:r>
              <a:t>226,540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</a:defRPr>
            </a:pPr>
            <a:r>
              <a:t>Loans in supervised 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17520"/>
            <a:ext cx="2194560" cy="1234440"/>
          </a:xfrm>
          <a:prstGeom prst="roundRect">
            <a:avLst/>
          </a:prstGeom>
          <a:solidFill>
            <a:srgbClr val="ECF2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3017520"/>
            <a:ext cx="73152" cy="123444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3273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95D1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</a:defRPr>
            </a:pPr>
            <a:r>
              <a:t>Final borrower segments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Two questions guided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4937760" cy="18288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3152" cy="182880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72768"/>
            <a:ext cx="4681728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1. How is the portfolio structured?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Use mixed borrower and loan variables to find natural groupings.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4937760" cy="18288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73152" cy="182880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72768"/>
            <a:ext cx="4681728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2. Can bad outcomes be predicted?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Use origination-time variables to classify Fully Paid vs Charged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49039"/>
            <a:ext cx="10058400" cy="14630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3749039"/>
            <a:ext cx="73152" cy="146304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858767"/>
            <a:ext cx="980236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Why combine both approaches?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The unsupervised part helps explain who is in the portfolio. The supervised part tests whether those financial patterns actually translate into future loss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Dataset and modelling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65760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92024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340156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What went into the data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Loan amount, term, interest rate, installment, income, DTI, revolving balance and utilization, inquiries, delinquencies, account counts, employment length, home ownership, verification status, purpose, and initial listing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292608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73152" cy="192024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35608"/>
            <a:ext cx="267004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Cleaning and feature work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Converted text fields to numeric, standardized categories, parsed dates, created credit-history length, and log-transformed highly skewed monetary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325880"/>
            <a:ext cx="365760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1325880"/>
            <a:ext cx="73152" cy="192024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2" y="1435608"/>
            <a:ext cx="340156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Supervised target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Kept only two final outcomes:</a:t>
            </a:r>
            <a:br/>
            <a:r>
              <a:t>• Fully Paid = successful repayment</a:t>
            </a:r>
            <a:br/>
            <a:r>
              <a:t>• Charged Off = realized loss for the lender</a:t>
            </a:r>
            <a:br/>
            <a:br/>
            <a:r>
              <a:t>This avoids mixing final outcomes with unresolved statuses like Current or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2926080" cy="13716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4023360"/>
            <a:ext cx="73152" cy="137160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4133088"/>
            <a:ext cx="267004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Unsupervised sample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464,776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023360"/>
            <a:ext cx="2926080" cy="13716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023360"/>
            <a:ext cx="73152" cy="137160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36592" y="4133088"/>
            <a:ext cx="267004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Supervised sample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226,540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2926080" cy="13716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4023360"/>
            <a:ext cx="73152" cy="137160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133088"/>
            <a:ext cx="267004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Bad-loan share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18.7%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</a:defRPr>
            </a:pPr>
            <a:r>
              <a:t>Important design choice: for prediction, only information known at origination was used, so the supervised model stayed forward-looking and leakage-free.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Unsupervised part: how the segmentation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1280160" cy="1280160"/>
          </a:xfrm>
          <a:prstGeom prst="ellipse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BFD"/>
                </a:solidFill>
              </a:defRPr>
            </a:pPr>
            <a:r>
              <a:t>Clean</a:t>
            </a:r>
            <a:br/>
            <a:r>
              <a:t>data</a:t>
            </a:r>
          </a:p>
        </p:txBody>
      </p:sp>
      <p:sp>
        <p:nvSpPr>
          <p:cNvPr id="7" name="Chevron 6"/>
          <p:cNvSpPr/>
          <p:nvPr/>
        </p:nvSpPr>
        <p:spPr>
          <a:xfrm>
            <a:off x="2331720" y="2240280"/>
            <a:ext cx="777240" cy="457200"/>
          </a:xfrm>
          <a:prstGeom prst="chevron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20440" y="1828800"/>
            <a:ext cx="1280160" cy="1280160"/>
          </a:xfrm>
          <a:prstGeom prst="ellipse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BFD"/>
                </a:solidFill>
              </a:defRPr>
            </a:pPr>
            <a:r>
              <a:t>FAMD</a:t>
            </a:r>
          </a:p>
        </p:txBody>
      </p:sp>
      <p:sp>
        <p:nvSpPr>
          <p:cNvPr id="10" name="Chevron 9"/>
          <p:cNvSpPr/>
          <p:nvPr/>
        </p:nvSpPr>
        <p:spPr>
          <a:xfrm>
            <a:off x="4937760" y="2240280"/>
            <a:ext cx="777240" cy="457200"/>
          </a:xfrm>
          <a:prstGeom prst="chevron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26480" y="1828800"/>
            <a:ext cx="1280160" cy="1280160"/>
          </a:xfrm>
          <a:prstGeom prst="ellipse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BFD"/>
                </a:solidFill>
              </a:defRPr>
            </a:pPr>
            <a:r>
              <a:t>K-means</a:t>
            </a:r>
          </a:p>
        </p:txBody>
      </p:sp>
      <p:sp>
        <p:nvSpPr>
          <p:cNvPr id="13" name="Chevron 12"/>
          <p:cNvSpPr/>
          <p:nvPr/>
        </p:nvSpPr>
        <p:spPr>
          <a:xfrm>
            <a:off x="7543800" y="2240280"/>
            <a:ext cx="777240" cy="457200"/>
          </a:xfrm>
          <a:prstGeom prst="chevron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32520" y="1828800"/>
            <a:ext cx="1280160" cy="1280160"/>
          </a:xfrm>
          <a:prstGeom prst="ellipse">
            <a:avLst/>
          </a:prstGeom>
          <a:solidFill>
            <a:srgbClr val="66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FBFD"/>
                </a:solidFill>
              </a:defRPr>
            </a:pPr>
            <a:r>
              <a:t>Interpret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86200"/>
            <a:ext cx="3383280" cy="13258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886200"/>
            <a:ext cx="73152" cy="132588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995928"/>
            <a:ext cx="3127248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Why FAMD?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Because the dataset mixes numeric and categorical variables. FAMD is the natural dimension-reduction tool for that setup.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886200"/>
            <a:ext cx="3383280" cy="13258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3886200"/>
            <a:ext cx="73152" cy="132588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2" y="3995928"/>
            <a:ext cx="3127248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Why k-means on FAMD dimensions?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It groups loans using the main latent structure of the portfolio rather than raw variables with very different scales.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886200"/>
            <a:ext cx="3291840" cy="13258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886200"/>
            <a:ext cx="73152" cy="132588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3995928"/>
            <a:ext cx="3035808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How k was chosen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A broad 2-group structure existed, but 4 clusters were retained because they gave the clearest and most economically interpretable portfolio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Unsupervised results: four borrower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840480" cy="2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37760" y="1417320"/>
            <a:ext cx="2926080" cy="16002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0" y="1417320"/>
            <a:ext cx="73152" cy="160020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2352" y="1527048"/>
            <a:ext cx="2670048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Conservative small-balance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Small loans, lighter burden,</a:t>
            </a:r>
            <a:br/>
            <a:r>
              <a:t>more cautious credit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383280"/>
            <a:ext cx="2926080" cy="16002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7760" y="3383280"/>
            <a:ext cx="73152" cy="160020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2352" y="3493008"/>
            <a:ext cx="2670048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Stressed high-rate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Largest loans, highest rates,</a:t>
            </a:r>
            <a:br/>
            <a:r>
              <a:t>heaviest debt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2926080" cy="16002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160020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527048"/>
            <a:ext cx="2670048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Mainstream revolving-debt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Mid-size loans, ordinary profile,</a:t>
            </a:r>
            <a:br/>
            <a:r>
              <a:t>but active revolving debt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383280"/>
            <a:ext cx="2926080" cy="16002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3383280"/>
            <a:ext cx="73152" cy="1600200"/>
          </a:xfrm>
          <a:prstGeom prst="rect">
            <a:avLst/>
          </a:prstGeom>
          <a:solidFill>
            <a:srgbClr val="66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1" y="3493008"/>
            <a:ext cx="2670048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rPr dirty="0"/>
              <a:t>Affluent seasoned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rPr dirty="0"/>
              <a:t>Higher income, longer credit history,</a:t>
            </a:r>
            <a:br>
              <a:rPr dirty="0"/>
            </a:br>
            <a:r>
              <a:rPr dirty="0"/>
              <a:t>deeper account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F23"/>
                </a:solidFill>
              </a:defRPr>
            </a:pPr>
            <a:r>
              <a:t>Takeaway: the portfolio is not split into one simple 'safe vs risky' divide. It contains four distinct borrowing styles with different mixes of leverage, pricing, revolving-debt use, and credit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What the segmentation is useful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56032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30428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Stressed high-rate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Closer monitoring, tighter exposure control, and more conservative underwriting.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417320"/>
            <a:ext cx="256032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417320"/>
            <a:ext cx="73152" cy="155448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1527048"/>
            <a:ext cx="230428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Mainstream revolving-debt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Standard retail strategy, but monitor dependence on revolving debt.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56032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73152" cy="155448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527048"/>
            <a:ext cx="230428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Conservative small-balance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Retention, simpler products, lower-intensity relationship building.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17320"/>
            <a:ext cx="210312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73152" cy="1554480"/>
          </a:xfrm>
          <a:prstGeom prst="rect">
            <a:avLst/>
          </a:prstGeom>
          <a:solidFill>
            <a:srgbClr val="66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312" y="1527048"/>
            <a:ext cx="184708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Affluent seasoned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Relationship deepening, tailored pricing, and cross-sell potential.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66160"/>
            <a:ext cx="1051560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566160"/>
            <a:ext cx="73152" cy="155448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675888"/>
            <a:ext cx="1025956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Main unsupervised conclusion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The segmentation is useful because it turns a large portfolio into a set of manageable borrower types. That makes monitoring, pricing, targeting, and strategy design much easier to discuss in business terms.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Supervised part: predicting realized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283464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155448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81328"/>
            <a:ext cx="25786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Target definition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Fully Paid versus Charged Off.</a:t>
            </a:r>
            <a:br/>
            <a:r>
              <a:t>This keeps the problem clean and avoids unresolved statuses like Current or 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371600"/>
            <a:ext cx="292608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86200" y="1371600"/>
            <a:ext cx="73152" cy="155448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0792" y="1481328"/>
            <a:ext cx="267004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Models compared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LDA as a simple benchmark.</a:t>
            </a:r>
            <a:br/>
            <a:r>
              <a:t>Random Forest as the main nonlinear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371600"/>
            <a:ext cx="4114800" cy="15544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1371600"/>
            <a:ext cx="73152" cy="155448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5472" y="1481328"/>
            <a:ext cx="385876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Evaluation approach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Train / validation / test split.</a:t>
            </a:r>
            <a:br/>
            <a:r>
              <a:t>Threshold chosen on validation, then final performance checked on the untouched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1024128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474720"/>
            <a:ext cx="73152" cy="192024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584448"/>
            <a:ext cx="998524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Why accuracy was not enough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Only 18.7% of the supervised sample was in the bad-loan class. In that setting, a model can look 'accurate' while still missing most charged-off loans. That is why recall, precision, and F1 for the bad class mattered more than raw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Supervised results: the default models were too conservative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3303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3720" y="1463040"/>
            <a:ext cx="4114800" cy="12344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03720" y="1463040"/>
            <a:ext cx="73152" cy="123444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1572768"/>
            <a:ext cx="385876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LDA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Accuracy 0.812 | Recall (bad) 0.089 | F1 (bad) 0.150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788920"/>
            <a:ext cx="4114800" cy="12344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2788920"/>
            <a:ext cx="73152" cy="123444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898648"/>
            <a:ext cx="385876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Random Forest at 0.50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Accuracy 0.815 | Recall (bad) 0.046 | F1 (bad) 0.084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114800"/>
            <a:ext cx="4114800" cy="141732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03720" y="4114800"/>
            <a:ext cx="73152" cy="141732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4224528"/>
            <a:ext cx="3858768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Random Forest at 0.25  — final choice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Accuracy 0.712 | Recall (bad) 0.528 | F1 (bad) 0.406</a:t>
            </a:r>
            <a:br/>
            <a:br/>
            <a:r>
              <a:t>This was the best balance for actually catching charged-off loans.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F23"/>
                </a:solidFill>
              </a:defRPr>
            </a:pPr>
            <a:r>
              <a:rPr dirty="0"/>
              <a:t>So the supervised story is not 'we built a perfect predictor.' </a:t>
            </a:r>
            <a:r>
              <a:rPr lang="en-US" dirty="0"/>
              <a:t>T</a:t>
            </a:r>
            <a:r>
              <a:rPr dirty="0"/>
              <a:t>here was useful signal in the data, but it took a more flexible model and a lower threshold to make that signal operational.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What the final model learned — and what it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577840" cy="33467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417320"/>
            <a:ext cx="4572000" cy="16916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1417320"/>
            <a:ext cx="73152" cy="169164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48272" y="1527048"/>
            <a:ext cx="43159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The model picked up financially sensible drivers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Loan size, installment burden, interest rate, grade, income, revolving debt, term, utilization, account depth, and DTI all mattered. That is exactly the kind of mix a lender would expect.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337560"/>
            <a:ext cx="4572000" cy="150876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3337560"/>
            <a:ext cx="73152" cy="150876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3447288"/>
            <a:ext cx="4315968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rPr dirty="0"/>
              <a:t>Why the results are meaningful but not spectacular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rPr dirty="0"/>
              <a:t>The model catches many more bad loans than the baseline, but precision is still moderate. </a:t>
            </a:r>
            <a:r>
              <a:rPr lang="en-US" dirty="0"/>
              <a:t>I</a:t>
            </a:r>
            <a:r>
              <a:rPr dirty="0"/>
              <a:t>t is useful for screening, but not strong enough for automatic approval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074920"/>
            <a:ext cx="4572000" cy="9144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5074920"/>
            <a:ext cx="73152" cy="91440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5184648"/>
            <a:ext cx="4315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Best honest interpretation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A good risk-flagging tool, not a full replacement for underwriting judgment.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C4A"/>
                </a:solidFill>
              </a:defRPr>
            </a:pPr>
            <a:r>
              <a:t>How a bank could use the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154680" cy="141732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2898648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Portfolio understanding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Use the 4 segments to see who is in the book and where risk is concentrated.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3154680" cy="141732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141732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172968"/>
            <a:ext cx="2898648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Risk screening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Use the tuned Random Forest as an early filter for loans that deserve closer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3154680" cy="11430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709160"/>
            <a:ext cx="73152" cy="114300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818888"/>
            <a:ext cx="289864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Decision support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Helpful for manual review, pricing, monitoring, and portfolio strategy — not for automatic yes/no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246120" cy="20116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73152" cy="2011680"/>
          </a:xfrm>
          <a:prstGeom prst="rect">
            <a:avLst/>
          </a:prstGeom>
          <a:solidFill>
            <a:srgbClr val="66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2272" y="1527048"/>
            <a:ext cx="2990088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Why the supervised results are only moderate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The model used origination-time information only. It did not use later payment behavior, macro shocks, or post-origination borrower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3246120" cy="201168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1417320"/>
            <a:ext cx="73152" cy="201168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1527048"/>
            <a:ext cx="2990088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Main trade-off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Catching more bad loans meant accepting more false positives. That is normal in credit screening, but it limits the model's use as a stand-alone decision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6766560" cy="20574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3794760"/>
            <a:ext cx="73152" cy="205740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904488"/>
            <a:ext cx="6510528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Overall business reading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Unsupervised learning helped explain the shape of the portfolio. Supervised learning added a forward-looking risk signal. Together, they give a much fuller picture than either part on its 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6716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32C4A"/>
                </a:solidFill>
              </a:defRPr>
            </a:pPr>
            <a:r>
              <a:t>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12064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73152" cy="1920240"/>
          </a:xfrm>
          <a:prstGeom prst="rect">
            <a:avLst/>
          </a:prstGeom>
          <a:solidFill>
            <a:srgbClr val="1E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709928"/>
            <a:ext cx="486460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What the unsupervised part proved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The retail loan portfolio contains four borrower types that differ in leverage, pricing, revolving-debt use, and credit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192024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73152" cy="1920240"/>
          </a:xfrm>
          <a:prstGeom prst="rect">
            <a:avLst/>
          </a:prstGeom>
          <a:solidFill>
            <a:srgbClr val="E67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709928"/>
            <a:ext cx="4864608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t>What the supervised part proved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t>Future loss can be predicted to a meaningful extent from origination-time information, but the model is strongest as a screening tool rather than a final approval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886200"/>
            <a:ext cx="10469880" cy="137160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886200"/>
            <a:ext cx="73152" cy="1371600"/>
          </a:xfrm>
          <a:prstGeom prst="rect">
            <a:avLst/>
          </a:prstGeom>
          <a:solidFill>
            <a:srgbClr val="60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3995928"/>
            <a:ext cx="10213848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32C4A"/>
                </a:solidFill>
              </a:defRPr>
            </a:pPr>
            <a:r>
              <a:rPr lang="en-US" dirty="0"/>
              <a:t>S</a:t>
            </a:r>
            <a:r>
              <a:rPr dirty="0"/>
              <a:t>ummary</a:t>
            </a:r>
          </a:p>
          <a:p>
            <a:pPr>
              <a:defRPr sz="1150">
                <a:solidFill>
                  <a:srgbClr val="1C1F23"/>
                </a:solidFill>
              </a:defRPr>
            </a:pPr>
            <a:r>
              <a:rPr dirty="0"/>
              <a:t>This project first mapped who is in the portfolio, then tested whether those borrower and loan characteristics can predict realized loss. That combination is what makes the analysis useful.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F23"/>
                </a:solidFill>
              </a:defRPr>
            </a:pPr>
            <a:r>
              <a:rPr dirty="0"/>
              <a:t>the portfolio is heterogeneous, and risk is predictable  </a:t>
            </a:r>
            <a:r>
              <a:rPr lang="en-US" dirty="0"/>
              <a:t>but imperfect. </a:t>
            </a:r>
            <a:r>
              <a:rPr dirty="0"/>
              <a:t>so the best use is structured screening and decision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1182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 ul</cp:lastModifiedBy>
  <cp:revision>4</cp:revision>
  <dcterms:created xsi:type="dcterms:W3CDTF">2013-01-27T09:14:16Z</dcterms:created>
  <dcterms:modified xsi:type="dcterms:W3CDTF">2026-06-21T19:20:53Z</dcterms:modified>
  <cp:category/>
</cp:coreProperties>
</file>